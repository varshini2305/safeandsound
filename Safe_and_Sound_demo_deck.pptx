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7" r:id="rId1"/>
    <p:sldId id="258" r:id="rId2"/>
    <p:sldId id="259" r:id="rId3"/>
    <p:sldId id="260" r:id="rId4"/>
    <p:sldId id="261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Icon"/>
          <p:cNvSpPr txBox="1"/>
          <p:nvPr/>
        </p:nvSpPr>
        <p:spPr>
          <a:xfrm>
            <a:off x="11000000" y="380000"/>
            <a:ext cx="650000" cy="650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/>
              <a:t>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buNone/>
            </a:pPr>
            <a:r>
              <a:rPr lang="en-US" sz="3600" b="1"/>
              <a:t>Safe and Sound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500000"/>
            <a:ext cx="10820400" cy="4700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1E293B"/>
            </a:solidFill>
          </a:ln>
        </p:spPr>
        <p:txBody>
          <a:bodyPr wrap="square"/>
          <a:lstStyle/>
          <a:p>
            <a:pPr algn="l">
              <a:buNone/>
            </a:pPr>
            <a:r>
              <a:rPr lang="en-US" sz="2200" b="0"/>
              <a:t>Key points</a:t>
            </a:r>
          </a:p>
          <a:p>
            <a:pPr algn="l" marL="457200" indent="-228600">
              <a:buChar char="•"/>
            </a:pPr>
            <a:r>
              <a:rPr lang="en-US" sz="2200" b="0"/>
              <a:t>Local-first privacy + sycophancy analysis from real chat exports</a:t>
            </a:r>
          </a:p>
          <a:p>
            <a:pPr algn="l" marL="457200" indent="-228600">
              <a:buChar char="•"/>
            </a:pPr>
            <a:r>
              <a:rPr lang="en-US" sz="2200" b="0"/>
              <a:t>Problem: users share sensitive info; assistants can be swayed into flipping answers without evidence</a:t>
            </a:r>
          </a:p>
          <a:p>
            <a:pPr algn="l" marL="457200" indent="-228600">
              <a:buChar char="•"/>
            </a:pPr>
            <a:r>
              <a:rPr lang="en-US" sz="2200" b="0"/>
              <a:t>Goal: make these risks visible and create reusable, anonymized benchmark data (SwayBench)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Icon"/>
          <p:cNvSpPr txBox="1"/>
          <p:nvPr/>
        </p:nvSpPr>
        <p:spPr>
          <a:xfrm>
            <a:off x="11000000" y="380000"/>
            <a:ext cx="650000" cy="650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/>
              <a:t>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buNone/>
            </a:pPr>
            <a:r>
              <a:rPr lang="en-US" sz="3600" b="1"/>
              <a:t>Who it’s for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500000"/>
            <a:ext cx="10820400" cy="4700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1E293B"/>
            </a:solidFill>
          </a:ln>
        </p:spPr>
        <p:txBody>
          <a:bodyPr wrap="square"/>
          <a:lstStyle/>
          <a:p>
            <a:pPr algn="l">
              <a:buNone/>
            </a:pPr>
            <a:r>
              <a:rPr lang="en-US" sz="2200" b="0"/>
              <a:t>Key points</a:t>
            </a:r>
          </a:p>
          <a:p>
            <a:pPr algn="l" marL="457200" indent="-228600">
              <a:buChar char="•"/>
            </a:pPr>
            <a:r>
              <a:rPr lang="en-US" sz="2200" b="0"/>
              <a:t>Everyday AI users: understand what you shared and when the assistant changed its mind</a:t>
            </a:r>
          </a:p>
          <a:p>
            <a:pPr algn="l" marL="457200" indent="-228600">
              <a:buChar char="•"/>
            </a:pPr>
            <a:r>
              <a:rPr lang="en-US" sz="2200" b="0"/>
              <a:t>AI safety &amp; eval builders: realistic disagreement→flip episodes (beyond synthetic prompts)</a:t>
            </a:r>
          </a:p>
          <a:p>
            <a:pPr algn="l" marL="457200" indent="-228600">
              <a:buChar char="•"/>
            </a:pPr>
            <a:r>
              <a:rPr lang="en-US" sz="2200" b="0"/>
              <a:t>Teams deploying assistants: quick audit of pushback vulnerability and risky advice shifts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Icon"/>
          <p:cNvSpPr txBox="1"/>
          <p:nvPr/>
        </p:nvSpPr>
        <p:spPr>
          <a:xfrm>
            <a:off x="11000000" y="380000"/>
            <a:ext cx="650000" cy="650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/>
              <a:t>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buNone/>
            </a:pPr>
            <a:r>
              <a:rPr lang="en-US" sz="3600" b="1"/>
              <a:t>What the app does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500000"/>
            <a:ext cx="10820400" cy="4700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1E293B"/>
            </a:solidFill>
          </a:ln>
        </p:spPr>
        <p:txBody>
          <a:bodyPr wrap="square"/>
          <a:lstStyle/>
          <a:p>
            <a:pPr algn="l">
              <a:buNone/>
            </a:pPr>
            <a:r>
              <a:rPr lang="en-US" sz="2200" b="0"/>
              <a:t>Key points</a:t>
            </a:r>
          </a:p>
          <a:p>
            <a:pPr algn="l" marL="457200" indent="-228600">
              <a:buChar char="•"/>
            </a:pPr>
            <a:r>
              <a:rPr lang="en-US" sz="2200" b="0"/>
              <a:t>Upload a chat export (or use built-in example)</a:t>
            </a:r>
          </a:p>
          <a:p>
            <a:pPr algn="l" marL="457200" indent="-228600">
              <a:buChar char="•"/>
            </a:pPr>
            <a:r>
              <a:rPr lang="en-US" sz="2200" b="0"/>
              <a:t>Detect and anonymize PII/secrets (placeholders or safe synthetic replacements)</a:t>
            </a:r>
          </a:p>
          <a:p>
            <a:pPr algn="l" marL="457200" indent="-228600">
              <a:buChar char="•"/>
            </a:pPr>
            <a:r>
              <a:rPr lang="en-US" sz="2200" b="0"/>
              <a:t>Mine “pushback” moments (e.g., “that’s wrong”, “are you sure?”, leading “but”)</a:t>
            </a:r>
          </a:p>
          <a:p>
            <a:pPr algn="l" marL="457200" indent="-228600">
              <a:buChar char="•"/>
            </a:pPr>
            <a:r>
              <a:rPr lang="en-US" sz="2200" b="0"/>
              <a:t>Rank likely answer-changes after pushback (possible sycophancy/gullibility)</a:t>
            </a:r>
          </a:p>
          <a:p>
            <a:pPr algn="l" marL="457200" indent="-228600">
              <a:buChar char="•"/>
            </a:pPr>
            <a:r>
              <a:rPr lang="en-US" sz="2200" b="0"/>
              <a:t>Optional: web-grounded verification on anonymized snippets</a:t>
            </a:r>
          </a:p>
          <a:p>
            <a:pPr algn="l" marL="457200" indent="-228600">
              <a:buChar char="•"/>
            </a:pPr>
            <a:r>
              <a:rPr lang="en-US" sz="2200" b="0"/>
              <a:t>Export anonymized SwayBench JSONL for reuse and sharing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Icon"/>
          <p:cNvSpPr txBox="1"/>
          <p:nvPr/>
        </p:nvSpPr>
        <p:spPr>
          <a:xfrm>
            <a:off x="11000000" y="380000"/>
            <a:ext cx="650000" cy="650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/>
              <a:t>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buNone/>
            </a:pPr>
            <a:r>
              <a:rPr lang="en-US" sz="3600" b="1"/>
              <a:t>Privacy by design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500000"/>
            <a:ext cx="10820400" cy="4700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1E293B"/>
            </a:solidFill>
          </a:ln>
        </p:spPr>
        <p:txBody>
          <a:bodyPr wrap="square"/>
          <a:lstStyle/>
          <a:p>
            <a:pPr algn="l">
              <a:buNone/>
            </a:pPr>
            <a:r>
              <a:rPr lang="en-US" sz="2200" b="0"/>
              <a:t>Key points</a:t>
            </a:r>
          </a:p>
          <a:p>
            <a:pPr algn="l" marL="457200" indent="-228600">
              <a:buChar char="•"/>
            </a:pPr>
            <a:r>
              <a:rPr lang="en-US" sz="2200" b="0"/>
              <a:t>Default: process locally in the browser — raw file never uploads</a:t>
            </a:r>
          </a:p>
          <a:p>
            <a:pPr algn="l" marL="457200" indent="-228600">
              <a:buChar char="•"/>
            </a:pPr>
            <a:r>
              <a:rPr lang="en-US" sz="2200" b="0"/>
              <a:t>Anonymization happens before any optional external verification</a:t>
            </a:r>
          </a:p>
          <a:p>
            <a:pPr algn="l" marL="457200" indent="-228600">
              <a:buChar char="•"/>
            </a:pPr>
            <a:r>
              <a:rPr lang="en-US" sz="2200" b="0"/>
              <a:t>Verification and sharing are opt-in, and only send anonymized snippets/items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Icon"/>
          <p:cNvSpPr txBox="1"/>
          <p:nvPr/>
        </p:nvSpPr>
        <p:spPr>
          <a:xfrm>
            <a:off x="11000000" y="380000"/>
            <a:ext cx="650000" cy="6500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>
              <a:buNone/>
            </a:pPr>
            <a:r>
              <a:rPr lang="en-US" sz="2400" b="1"/>
              <a:t>S</a:t>
            </a:r>
          </a:p>
        </p:txBody>
      </p:sp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>
              <a:buNone/>
            </a:pPr>
            <a:r>
              <a:rPr lang="en-US" sz="3600" b="1"/>
              <a:t>Deliverables &amp; impact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500000"/>
            <a:ext cx="10820400" cy="4700000"/>
          </a:xfrm>
          <a:prstGeom prst="roundRect">
            <a:avLst/>
          </a:prstGeom>
          <a:solidFill>
            <a:srgbClr val="0F172A">
              <a:alpha val="98000"/>
            </a:srgbClr>
          </a:solidFill>
          <a:ln w="12700">
            <a:solidFill>
              <a:srgbClr val="1E293B"/>
            </a:solidFill>
          </a:ln>
        </p:spPr>
        <p:txBody>
          <a:bodyPr wrap="square"/>
          <a:lstStyle/>
          <a:p>
            <a:pPr algn="l">
              <a:buNone/>
            </a:pPr>
            <a:r>
              <a:rPr lang="en-US" sz="2200" b="0"/>
              <a:t>Key points</a:t>
            </a:r>
          </a:p>
          <a:p>
            <a:pPr algn="l" marL="457200" indent="-228600">
              <a:buChar char="•"/>
            </a:pPr>
            <a:r>
              <a:rPr lang="en-US" sz="2200" b="0"/>
              <a:t>Working dashboard: privacy audit + pushback mining + answer-change review</a:t>
            </a:r>
          </a:p>
          <a:p>
            <a:pPr algn="l" marL="457200" indent="-228600">
              <a:buChar char="•"/>
            </a:pPr>
            <a:r>
              <a:rPr lang="en-US" sz="2200" b="0"/>
              <a:t>Reusable dataset: SwayBench JSONL (anonymized real-world pushback→change episodes)</a:t>
            </a:r>
          </a:p>
          <a:p>
            <a:pPr algn="l" marL="457200" indent="-228600">
              <a:buChar char="•"/>
            </a:pPr>
            <a:r>
              <a:rPr lang="en-US" sz="2200" b="0"/>
              <a:t>Helps users reduce privacy risk and helps researchers measure real-world sycophancy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3F3F3"/>
      </a:lt2>
      <a:accent1>
        <a:srgbClr val="4F46E5"/>
      </a:accent1>
      <a:accent2>
        <a:srgbClr val="0EA5E9"/>
      </a:accent2>
      <a:accent3>
        <a:srgbClr val="22C55E"/>
      </a:accent3>
      <a:accent4>
        <a:srgbClr val="EAB308"/>
      </a:accent4>
      <a:accent5>
        <a:srgbClr val="F97316"/>
      </a:accent5>
      <a:accent6>
        <a:srgbClr val="EF4444"/>
      </a:accent6>
      <a:hlink>
        <a:srgbClr val="2563EB"/>
      </a:hlink>
      <a:folHlink>
        <a:srgbClr val="7C3AED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Safe and Sound</Application>
  <Slides>5</Slides>
  <Words>0</Words>
  <PresentationFormat>On-screen Show (16:9)</PresentationFormat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and Sound — Demo Deck</dc:title>
  <dc:creator>Safe and Sound</dc:creator>
  <cp:lastModifiedBy>Safe and Sound</cp:lastModifiedBy>
  <dcterms:created xsi:type="dcterms:W3CDTF">2026-03-15T20:08:18Z</dcterms:created>
  <dcterms:modified xsi:type="dcterms:W3CDTF">2026-03-15T20:08:18Z</dcterms:modified>
</cp:coreProperties>
</file>